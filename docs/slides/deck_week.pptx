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wav"/>
  <Override PartName="/ppt/media/media2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flat, then expressive. Same bars, sine synthesis, so timing and dynamics carry the contrast. Not transcription: the score is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thesis sentence verbatim. One problem per phase; every later slide answers one of the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prior with three swappable likelihood blocks; badges show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L_G is the graph Laplacian; it carries the score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U, nu: eigenvectors/values of the Laplacian. B is learned per piece.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X_f: per-note features (score descriptors, music-model embeddings). Baselines are exact special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colors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 picture was exactly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One-shot discipline: the test set was never touched during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 = corrected pYIN on isolated stems (46 ms / 10 ms), gross errors hand-fixed; hence 'quasi-truth'.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Logs: positive quantities, multiplicative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development notes, no fits drawn.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Naming, say once: the kernel is a special case of the SM kernel; the method is ours (structure imposed). We also ran the SM method as intended on 9,804 notes: exact tie at curve level, vibrato band found unaided on 18%. The structure must be imposed and costs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 IS the channel read-out.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prior as piano,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x: audio samples; z: pitch deviations; a: amplitudes, never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cut. Violin 2.5 vs pYIN 3.4 cents, clarinet 1.0 vs 4.6, cello 4.8 vs 2.7 (the miss, say it plainly). Knots must beat Nyquist for 5-6 Hz vibrato: 16 knots/s.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'correlated timing noise across notes', never bare 'AR(1)'.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neighbour's warp error predicts yours; the correlated row lets the model subtract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Sequencing, not dates; gated by the open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here; invite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wav"/><Relationship Id="rId4" Type="http://schemas.openxmlformats.org/officeDocument/2006/relationships/video" Target="../media/media1.wav"/><Relationship Id="rId5" Type="http://schemas.openxmlformats.org/officeDocument/2006/relationships/image" Target="../media/image2.png"/><Relationship Id="rId6" Type="http://schemas.microsoft.com/office/2007/relationships/media" Target="../media/media2.wav"/><Relationship Id="rId7" Type="http://schemas.openxmlformats.org/officeDocument/2006/relationships/video" Target="../media/media2.wav"/><Relationship Id="rId8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88952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Segoe UI"/>
              </a:defRPr>
            </a:pPr>
            <a:r>
              <a:t>Expressive Performance as a Gaussian Process on a Musical Score Graph</a:t>
            </a:r>
          </a:p>
          <a:p>
            <a:pPr>
              <a:defRPr sz="1200" b="0">
                <a:solidFill>
                  <a:srgbClr val="1A1A1A"/>
                </a:solidFill>
                <a:latin typeface="Segoe UI"/>
              </a:defRPr>
            </a:pPr>
          </a:p>
          <a:p>
            <a:pPr>
              <a:defRPr sz="1800" b="0">
                <a:solidFill>
                  <a:srgbClr val="6B7280"/>
                </a:solidFill>
                <a:latin typeface="Segoe UI"/>
              </a:defRPr>
            </a:pPr>
            <a:r>
              <a:t>Raynaldi Lalang   ·   Kyoto University   ·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Expressive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score fixes pitches and note values. Performers add the rest: when, how long, how loud, and how the pitch moves inside the note. These deviations are the expression.</a:t>
            </a:r>
          </a:p>
        </p:txBody>
      </p:sp>
      <p:pic>
        <p:nvPicPr>
          <p:cNvPr id="6" name="Picture 5" descr="deck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16" y="2057400"/>
            <a:ext cx="7132320" cy="4270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Segoe UI"/>
              </a:defRPr>
            </a:pPr>
            <a:r>
              <a:t>flat (score)  |  expressive (a real performance)  — click to play</a:t>
            </a:r>
          </a:p>
        </p:txBody>
      </p:sp>
      <p:pic>
        <p:nvPicPr>
          <p:cNvPr id="8" name="flat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46320" y="5989320"/>
            <a:ext cx="594360" cy="594360"/>
          </a:xfrm>
          <a:prstGeom prst="rect">
            <a:avLst/>
          </a:prstGeom>
        </p:spPr>
      </p:pic>
      <p:pic>
        <p:nvPicPr>
          <p:cNvPr id="9" name="expressive.wav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75120" y="5989320"/>
            <a:ext cx="594360" cy="594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The thesis, and the three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Thesis: one Gaussian process on the score graph turns a known score and a performance into per-note expressive variables, each with an error bar you can trust.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Piano: timing, articulation, velocity, read directly from aligned MIDI. Are the error bars calibrated?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Strings and winds: six variables, now with intonation and vibrato, estimated from audio, noisily. Does the same prior still work?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Audio directly: no pitch tracker at all. Can the waveform itself be the observation?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Approach: one prior, three kinds of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One GP prior over per-note expressive fields, on a graph built from the score. Only the observation changes per phase: MIDI, f0 targets, or the waveform.</a:t>
            </a:r>
          </a:p>
        </p:txBody>
      </p:sp>
      <p:pic>
        <p:nvPicPr>
          <p:cNvPr id="6" name="Picture 5" descr="deck_program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2057400"/>
            <a:ext cx="8778240" cy="3625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The model (1): the score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Wᵢⱼ = exp( −(bᵢ−bⱼ)²/2ℓ_b² − (pᵢ−pⱼ)²/2ℓ_p² ),   L_G = D −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Nodes: the written notes (pitch, beat onset, duration).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Edges: close in score time and pitch — neighbours are played similarly.</a:t>
            </a:r>
          </a:p>
        </p:txBody>
      </p:sp>
      <p:pic>
        <p:nvPicPr>
          <p:cNvPr id="7" name="Picture 6" descr="deck_score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3153393"/>
            <a:ext cx="7498079" cy="32474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The model (2): a GP on the graph, channels coupled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K_G(s) = U g(ν; s) Uᵀ,  g(ν; s) = 1/(1+sν)   ;   Cov[y] = B ⊗ K_G(s)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Shape the Laplacian spectrum with one parameter s: smooth-on-the-graph patterns keep their variance, rough ones are shrunk (graph Matérn).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channels are correlated: a learned coupling matrix B shares the graph, so an observed channel at one note informs the others at neighbouring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The model (3): the covariance of one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K = B⊗K_G(s)  +  Σ_f diag(c_f)⊗X_f X_fᵀ  +  diag(ς²)⊗I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Graph term + side-information terms + noise: the whole model is one per-piece covariance matrix.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Feature weights are re-inferred for every piece — the measured source of the accuracy gain.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Sixteen numbers per piece, fit by exact evidence; prediction is conjugate, closed 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The model, in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_phase1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6" y="1097280"/>
            <a:ext cx="9692640" cy="4391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Segoe UI"/>
              </a:defRPr>
            </a:pPr>
            <a:r>
              <a:t>Blue: score graph → L_G → K_G. Amber: features as linear kernels. Vermilion: the likelihood, the only block that changes across the phases.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Phase 1: the setting (piano, aligned MIDI)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yᵢ = [ τᵢ (onset timing),  log rᵢ (articulation),  vᵢ (velocity)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A Disklavier records exactly what the pianist controlled: three variables per note, read directly, no estimation.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question: on held-out notes, how good are the estimates, and can the error bars be trusted?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Phase 1: results (piano, ASAP)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Preregistered, scored once on 20 untouched pieces, against the two-stage pipeline the model contains.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Accuracy: RMSE 0.376 vs 0.393 (pooled over the three channels), paired per-piece difference significant.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Calibration: the graph's log-score contribution significant; coverage 0.925 at nominal 0.90.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Attribution: the features carry the mean, the graph carries the calibration.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Phase 2: from audio to the cents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xⱼ = 1200 log₂(f₀ⱼ/440) − 100(pᵢ−69)   (deviation from equal temperament)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A pitch tracker gives frames: time, f₀, voicing confidence.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Frame rule: voiced, confidence above the track's lowest quintile, at least 4 frames per note.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Two curves per note — tracked: pYIN, run by us; ground truth: the corpus's own annotation of the same stem. Cleaner, but still a measurement.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Phase 2: the pitch-curve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Within one note: a sustained level plus one oscillation. Three numbers describe it.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Intonation c (cents): the sustained offset from the written pitch. c &gt; 0 sharp; 100 = a semitone.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Vibrato extent γ (cents): the oscillation's amplitude.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Vibrato rate f (Hz): its frequency; vibrato lives at roughly 4–8 Hz.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bundle carries log γ, log f. No oscillation found: those cells are missing, c remains.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Phase 2: what the data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ase2_frames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097280"/>
            <a:ext cx="10607040" cy="2940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A: the tracker quantizes and drops frames; the ground truth shows the oscillation underneath. B: identifiable. C: refused, cells missing.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Estimating the channels with a Gaussian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k(Δt) = w₁ e^(−2π²v₁Δt²) cos(2πμ₁Δt) + w₂ e^(−2π²v₂Δt²)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cents curve as a Gaussian process, two components: a damped cosine at the vibrato rate, plus a slow drift (a special case of the spectral mixture kernel, Wilson and Adams 2013).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prior states only where the curve's energy lives: a band at the rate, plus a drift band at zero.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Fit per note by exact marginal likelihood; variances from the evidence curvature.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Channels from the posterior: c the realized average, γ from the vibrato component, f = μ₁.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One real note: the curve and its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m_estimator_expl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097280"/>
            <a:ext cx="10607040" cy="2892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A: the GP tracks the curve (rigid sine as reference). B: the posterior split into centre, drift, vibrato. C: the read-outs.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Phase 2: results (strings and winds, URMP)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yᵢ = [ c, log γ, log f, ℓ, τ, dᵢᵛⁱᵇ ]   — six channels, estimator variances used as given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Preregistered, scored once on 13 held-out pieces. Δ = full model − no-graph ablation, paired per piece.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Intonation recovery: ΔRMSE −0.877 cents, significant.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Vibrato calibration: ΔNLL −2.990 (extent), −0.564 (rate), both significant.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Coverage 0.88–0.91 at nominal 0.90, all six channels.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Timing calibration: no improvement (−0.030, interval includes zero). The loose end, taken up after Phase 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Phase 3: the waveform as the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x = Φ(z) a + ε   ⇒   p(x|z) = N(x; 0, ΦΣ_aΦᵀ + σ²I)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likelihood block becomes the audio itself; the harmonic amplitudes are marginalized exactly (O(mp²), whole tracks exact).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Development studies: intonation at 2.29 cents median with no pitch tracker; beats the estimator chain on winds.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Running now: the curve straight from the waveform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ase3_curve_pr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097280"/>
            <a:ext cx="10607040" cy="3135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Prototype (this week): the within-note GP prior meets the waveform likelihood. No tracker, no estimator. Better than the pYIN frames on two of three notes.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Timing noise is correlated across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72B2"/>
                </a:solidFill>
                <a:latin typeface="Segoe UI"/>
              </a:defRPr>
            </a:pPr>
            <a:r>
              <a:t>Σᵗᵢⱼ = ς_{τ,i} ς_{τ,j} ρ^|i−j|   — one parameter ρ, chosen per piece by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Why timing did not calibrate: alignment error is correlated along score time; a diagonal noise row cannot represent it.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The evidence detects the correlation on 97–100% of pieces (median ρ 0.45–0.60).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Calibration improves (ΔNLL −0.111, significant); timing error falls ~20% (99 → 80 ms).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Reproduced three ways: original masks, fresh masks, joint refit.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Held-out timing, with and without the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noise_tau_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097280"/>
            <a:ext cx="10607040" cy="30536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Segoe UI"/>
              </a:defRPr>
            </a:pPr>
            <a:r>
              <a:t>Left: paired deltas, three runs. Middle: the chosen correlation per piece. Right: one track's held-out timing.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From here (proposed sequencing)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37160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589520"/>
              </a:tblGrid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72B2"/>
                          </a:solidFill>
                          <a:latin typeface="Segoe UI"/>
                        </a:defRPr>
                      </a:pPr>
                      <a:r>
                        <a:t>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integrate the full-corpus learned-spectrum run (done this week)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72B2"/>
                          </a:solidFill>
                          <a:latin typeface="Segoe UI"/>
                        </a:defRPr>
                      </a:pPr>
                      <a:r>
                        <a:t>next 2 weeks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freeze the timing-noise registration once the pool is decided; batch-evaluate the curve-from-waveform prototype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72B2"/>
                          </a:solidFill>
                          <a:latin typeface="Segoe UI"/>
                        </a:defRPr>
                      </a:pPr>
                      <a:r>
                        <a:t>November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decide the channel design (scalars vs curve level); run the timing confirmation, one 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72B2"/>
                          </a:solidFill>
                          <a:latin typeface="Segoe UI"/>
                        </a:defRPr>
                      </a:pPr>
                      <a:r>
                        <a:t>December on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Phase 3 at scale; consolidate thesis chapters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Segoe UI"/>
              </a:defRPr>
            </a:pPr>
            <a:r>
              <a:t>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279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Which corpus to confirm the timing result on: a new one (Bach10), a disclosed re-use, or both?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Keep the channels as three scalars per note, or move them to curve level (the prototype's direction)?</a:t>
            </a:r>
          </a:p>
          <a:p>
            <a:pPr>
              <a:spcAft>
                <a:spcPts val="1000"/>
              </a:spcAft>
              <a:defRPr sz="2000" b="0">
                <a:solidFill>
                  <a:srgbClr val="1A1A1A"/>
                </a:solidFill>
                <a:latin typeface="Segoe UI"/>
              </a:defRPr>
            </a:pPr>
            <a:r>
              <a:t>•  Should the new robustness options become defaults?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